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230F"/>
    <a:srgbClr val="10180A"/>
    <a:srgbClr val="0E1509"/>
    <a:srgbClr val="2032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4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74.4186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6-03-30T17:35:30.969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E301AC2-CB0E-4EBB-BBAC-AA2A1F821CC5}" emma:medium="tactile" emma:mode="ink">
          <msink:context xmlns:msink="http://schemas.microsoft.com/ink/2010/main" type="writingRegion" rotatedBoundingBox="705,18667 1128,18667 1128,18989 705,18989"/>
        </emma:interpretation>
      </emma:emma>
    </inkml:annotationXML>
    <inkml:traceGroup>
      <inkml:annotationXML>
        <emma:emma xmlns:emma="http://www.w3.org/2003/04/emma" version="1.0">
          <emma:interpretation id="{53772DB6-C43B-4508-87E5-832270CEB9EB}" emma:medium="tactile" emma:mode="ink">
            <msink:context xmlns:msink="http://schemas.microsoft.com/ink/2010/main" type="paragraph" rotatedBoundingBox="705,18667 1128,18667 1128,18989 705,1898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8DECC44-453B-4BF9-B092-67FB81D6A49D}" emma:medium="tactile" emma:mode="ink">
              <msink:context xmlns:msink="http://schemas.microsoft.com/ink/2010/main" type="line" rotatedBoundingBox="705,18667 1128,18667 1128,18989 705,18989"/>
            </emma:interpretation>
          </emma:emma>
        </inkml:annotationXML>
        <inkml:traceGroup>
          <inkml:annotationXML>
            <emma:emma xmlns:emma="http://www.w3.org/2003/04/emma" version="1.0">
              <emma:interpretation id="{6DE0C3F0-7A86-4FA5-9B32-F4D89C0AA1F9}" emma:medium="tactile" emma:mode="ink">
                <msink:context xmlns:msink="http://schemas.microsoft.com/ink/2010/main" type="inkWord" rotatedBoundingBox="705,18667 1128,18667 1128,18989 705,18989"/>
              </emma:interpretation>
              <emma:one-of disjunction-type="recognition" id="oneOf0">
                <emma:interpretation id="interp0" emma:lang="" emma:confidence="0.5">
                  <emma:literal>•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-</emma:literal>
                </emma:interpretation>
                <emma:interpretation id="interp3" emma:lang="" emma:confidence="0">
                  <emma:literal>„</emma:literal>
                </emma:interpretation>
                <emma:interpretation id="interp4" emma:lang="" emma:confidence="0">
                  <emma:literal>•.</emma:literal>
                </emma:interpretation>
              </emma:one-of>
            </emma:emma>
          </inkml:annotationXML>
          <inkml:trace contextRef="#ctx0" brushRef="#br0">2 286 0,'20'0'140,"0"0"-124,1 0 46,-1 0-30,0 0-1,0 0 0,0 20 0,0-20 16,0 0-31,-20 20-1,21-20 17,-1 0-1,0 0 0,0 0 32,0 0-1,0 0-46,1 0 15,-1 0-15,0 0 15,0 0-15,0 0 46,0-20 172,-20 0-234,0 0 32,0 0-1,0-1 31,0 1 32,0 0-78,0 0-1,0 0 17,0 0 30,0-1-46,0 1 15,0 0 0,0 0 63,-20 20-94,0 0 47,20-20-31,-20 20-1,0 0-15,0 0 31,20-20-15,-21 20 0,1 0-16,0 0 62,0 0 16,0 0-62,0 0 31,-1 0-16,1 0-15,0 0 15,0 0 47,0 0-47,0 0 1,0 0 30,20 20-46,0 0 46,-21-20-62,21 20 16,-20-20-1,20 20 1,-20-20 47,20 20-48,0 1 32,0-1 0,0 0 15,0 0-46,0 0 15,0 0 94,0 1-93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74.4186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6-03-30T18:18:25.216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44C06FD-90F2-4D63-9482-6435CD1BBF88}" emma:medium="tactile" emma:mode="ink">
          <msink:context xmlns:msink="http://schemas.microsoft.com/ink/2010/main" type="writingRegion" rotatedBoundingBox="24230,7801 25662,7801 25662,7862 24230,7862"/>
        </emma:interpretation>
      </emma:emma>
    </inkml:annotationXML>
    <inkml:traceGroup>
      <inkml:annotationXML>
        <emma:emma xmlns:emma="http://www.w3.org/2003/04/emma" version="1.0">
          <emma:interpretation id="{1359BF6B-B769-432C-964E-20E51E521190}" emma:medium="tactile" emma:mode="ink">
            <msink:context xmlns:msink="http://schemas.microsoft.com/ink/2010/main" type="paragraph" rotatedBoundingBox="24230,7801 25662,7801 25662,7862 24230,78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A17ABE1-C906-4E38-A0D8-667A9493BC57}" emma:medium="tactile" emma:mode="ink">
              <msink:context xmlns:msink="http://schemas.microsoft.com/ink/2010/main" type="line" rotatedBoundingBox="24230,7801 25662,7801 25662,7862 24230,7862"/>
            </emma:interpretation>
          </emma:emma>
        </inkml:annotationXML>
        <inkml:traceGroup>
          <inkml:annotationXML>
            <emma:emma xmlns:emma="http://www.w3.org/2003/04/emma" version="1.0">
              <emma:interpretation id="{903B500F-DE9D-417E-B64B-ED0CFF556878}" emma:medium="tactile" emma:mode="ink">
                <msink:context xmlns:msink="http://schemas.microsoft.com/ink/2010/main" type="inkWord" rotatedBoundingBox="24230,7801 25662,7801 25662,7862 24230,7862"/>
              </emma:interpretation>
              <emma:one-of disjunction-type="recognition" id="oneOf0">
                <emma:interpretation id="interp0" emma:lang="" emma:confidence="0.5">
                  <emma:literal>-</emma:literal>
                </emma:interpretation>
                <emma:interpretation id="interp1" emma:lang="" emma:confidence="0">
                  <emma:literal>•</emma:literal>
                </emma:interpretation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=</emma:literal>
                </emma:interpretation>
                <emma:interpretation id="interp4" emma:lang="" emma:confidence="0">
                  <emma:literal>-.</emma:literal>
                </emma:interpretation>
              </emma:one-of>
            </emma:emma>
          </inkml:annotationXML>
          <inkml:trace contextRef="#ctx0" brushRef="#br0">0 0 0,'20'0'93,"1"0"-61,-1 0-32,0 0 15,0 0-15,0 0 16,0 0-16,1 0 15,-1 0 1,0 0 0,0 0-16,0 0 0,0 0 15,1 0 1,-1 0-16,0 0 16,0 0-16,0 0 15,0 0 1,0 0-1,1 0-15,-1 0 16,0 0 0,0 0-1,-20 20 1,20-20-16,0 0 16,1 0-16,-1 0 15,0 0-15,0 0 16,0 20-1,0-20 1,1 0-16,-1 0 16,0 0-16,0 0 15,0 0 1,0 0 0,0 0-16,1 0 0,-1 0 15,0 0-15,0 0 16,0 0-1,0 0-15,1 0 16,-1 0-16,0 0 16,0 0-1,0 0 1,0 0-16,1 0 16,-1 0-16,0 0 15,0 0 16,0 0-31,0 0 32,0 0-32,1 0 0,-1 0 47,0 0-47,0 0 15,0 0 1,0 0-1,1 0 1,-1 0 15,0 0-15,0 0 0,0 0-1,0 0 1,1 0 15,-21 21 32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74.4186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6-03-30T18:18:26.515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0242E41-B3C9-412E-947E-F8C8FB3A1E85}" emma:medium="tactile" emma:mode="ink">
          <msink:context xmlns:msink="http://schemas.microsoft.com/ink/2010/main" type="writingRegion" rotatedBoundingBox="23162,-2277 23177,-2277 23177,-2262 23162,-2262"/>
        </emma:interpretation>
      </emma:emma>
    </inkml:annotationXML>
    <inkml:traceGroup>
      <inkml:annotationXML>
        <emma:emma xmlns:emma="http://www.w3.org/2003/04/emma" version="1.0">
          <emma:interpretation id="{62F2CEF0-1AF2-48F1-919A-19A5763486BB}" emma:medium="tactile" emma:mode="ink">
            <msink:context xmlns:msink="http://schemas.microsoft.com/ink/2010/main" type="paragraph" rotatedBoundingBox="23162,-2277 23177,-2277 23177,-2262 23162,-22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4868829-9BF0-4B97-8F8F-B8AF565222D6}" emma:medium="tactile" emma:mode="ink">
              <msink:context xmlns:msink="http://schemas.microsoft.com/ink/2010/main" type="line" rotatedBoundingBox="23162,-2277 23177,-2277 23177,-2262 23162,-2262"/>
            </emma:interpretation>
          </emma:emma>
        </inkml:annotationXML>
        <inkml:traceGroup>
          <inkml:annotationXML>
            <emma:emma xmlns:emma="http://www.w3.org/2003/04/emma" version="1.0">
              <emma:interpretation id="{4778F941-E76E-45D3-BB11-C637603DBB3E}" emma:medium="tactile" emma:mode="ink">
                <msink:context xmlns:msink="http://schemas.microsoft.com/ink/2010/main" type="inkWord" rotatedBoundingBox="23162,-2277 23177,-2277 23177,-2262 23162,-2262"/>
              </emma:interpretation>
              <emma:one-of disjunction-type="recognition" id="oneOf0">
                <emma:interpretation id="interp0" emma:lang="" emma:confidence="0.5">
                  <emma:literal>•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•.</emma:literal>
                </emma:interpretation>
                <emma:interpretation id="interp3" emma:lang="" emma:confidence="0">
                  <emma:literal>-</emma:literal>
                </emma:interpretation>
                <emma:interpretation id="interp4" emma:lang="" emma:confidence="0">
                  <emma:literal>:</emma:literal>
                </emma:interpretation>
              </emma:one-of>
            </emma:emma>
          </inkml:annotationXML>
          <inkml:trace contextRef="#ctx0" brushRef="#br0">0 0 0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C235C-896D-4965-A673-7C73942D20F9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3E297-575B-4084-868F-BFBB9F5CBA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546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E3E297-575B-4084-868F-BFBB9F5CBA1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287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3186-56C1-4FAE-AAA7-4C0EA47F972D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0C68C-B562-415D-B337-E665135BA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715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3186-56C1-4FAE-AAA7-4C0EA47F972D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0C68C-B562-415D-B337-E665135BA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107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3186-56C1-4FAE-AAA7-4C0EA47F972D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0C68C-B562-415D-B337-E665135BA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045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3186-56C1-4FAE-AAA7-4C0EA47F972D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0C68C-B562-415D-B337-E665135BA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91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3186-56C1-4FAE-AAA7-4C0EA47F972D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0C68C-B562-415D-B337-E665135BA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358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3186-56C1-4FAE-AAA7-4C0EA47F972D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0C68C-B562-415D-B337-E665135BA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1891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3186-56C1-4FAE-AAA7-4C0EA47F972D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0C68C-B562-415D-B337-E665135BA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280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3186-56C1-4FAE-AAA7-4C0EA47F972D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0C68C-B562-415D-B337-E665135BA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38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3186-56C1-4FAE-AAA7-4C0EA47F972D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0C68C-B562-415D-B337-E665135BA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307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3186-56C1-4FAE-AAA7-4C0EA47F972D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0C68C-B562-415D-B337-E665135BA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730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3186-56C1-4FAE-AAA7-4C0EA47F972D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0C68C-B562-415D-B337-E665135BA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992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53186-56C1-4FAE-AAA7-4C0EA47F972D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0C68C-B562-415D-B337-E665135BA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38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8.emf"/><Relationship Id="rId5" Type="http://schemas.openxmlformats.org/officeDocument/2006/relationships/customXml" Target="../ink/ink1.xml"/><Relationship Id="rId10" Type="http://schemas.openxmlformats.org/officeDocument/2006/relationships/customXml" Target="../ink/ink3.xml"/><Relationship Id="rId4" Type="http://schemas.openxmlformats.org/officeDocument/2006/relationships/image" Target="../media/image4.png"/><Relationship Id="rId9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rystall16/-Sort.gi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533292" y="6435970"/>
            <a:ext cx="6658707" cy="422030"/>
          </a:xfrm>
        </p:spPr>
        <p:txBody>
          <a:bodyPr anchor="ctr">
            <a:normAutofit/>
          </a:bodyPr>
          <a:lstStyle/>
          <a:p>
            <a:r>
              <a:rPr lang="ru-RU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Перезентацию</a:t>
            </a:r>
            <a:r>
              <a:rPr lang="ru-RU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подготовил Косач Михаил 11-541</a:t>
            </a: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7885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6489" y="377157"/>
            <a:ext cx="10966785" cy="1325563"/>
          </a:xfrm>
          <a:noFill/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Конечно! Вот максимально краткая историческая справка без «ВСЕЙ ЭТОЙ </a:t>
            </a:r>
            <a:r>
              <a:rPr lang="ru-RU" dirty="0">
                <a:solidFill>
                  <a:schemeClr val="bg1"/>
                </a:solidFill>
              </a:rPr>
              <a:t>Х</a:t>
            </a:r>
            <a:r>
              <a:rPr lang="ru-RU" dirty="0" smtClean="0">
                <a:solidFill>
                  <a:schemeClr val="bg1"/>
                </a:solidFill>
              </a:rPr>
              <a:t>***</a:t>
            </a:r>
            <a:r>
              <a:rPr lang="ru-RU" dirty="0">
                <a:solidFill>
                  <a:schemeClr val="bg1"/>
                </a:solidFill>
              </a:rPr>
              <a:t>И</a:t>
            </a:r>
            <a:r>
              <a:rPr lang="ru-RU" dirty="0" smtClean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Б</a:t>
            </a:r>
            <a:r>
              <a:rPr lang="ru-RU" dirty="0" smtClean="0">
                <a:solidFill>
                  <a:schemeClr val="bg1"/>
                </a:solidFill>
              </a:rPr>
              <a:t>***</a:t>
            </a:r>
            <a:r>
              <a:rPr lang="ru-RU" dirty="0">
                <a:solidFill>
                  <a:schemeClr val="bg1"/>
                </a:solidFill>
              </a:rPr>
              <a:t>Ь</a:t>
            </a:r>
            <a:r>
              <a:rPr lang="ru-RU" dirty="0" smtClean="0">
                <a:solidFill>
                  <a:schemeClr val="bg1"/>
                </a:solidFill>
              </a:rPr>
              <a:t>!»: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1945729"/>
            <a:ext cx="12240000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Точная дата возникновения сортировки корзиной (</a:t>
            </a:r>
            <a:r>
              <a:rPr kumimoji="0" lang="ru-RU" altLang="ru-RU" sz="10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bucket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0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sort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) и имя её первооткрывателя достоверно не установлены — алгоритм относится к числу «фольклорных» в информатике: он возник естественным образом как интуитивное решение задачи упорядочивания при работе с физическими объектами (например, сортировка писем или карточек по ячейкам-отделениям), а затем был формализован в контексте компьютерных наук в 1950–1960‑х годах, когда активно развивались методы сортировки и обработки данных. Практические аналоги этого подхода использовались задолго до появления компьютеров: например, в механических сортировальных машинах для перфокарт (таких как табуляторы IBM начала XX века) данные распределялись по отделениям в зависимости от значений на картах, что по сути и являлось реализацией принципа «корзин». В академической литературе алгоритм стал систематически описываться в 1970‑х годах — в частности, он фигурирует в классических трудах по алгоритмам, включая книгу Дональда Кнута «Искусство программирования» (том 3, «Сортировка и поиск», 1‑е издание 1973 года), где анализируются его свойства и связь с другими методами (например, с поразрядной сортировкой).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Сортировка корзиной (</a:t>
            </a:r>
            <a:r>
              <a:rPr kumimoji="0" lang="ru-RU" altLang="ru-RU" sz="10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bucket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0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sort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) предназначена для упорядочивания набора элементов, когда известно, что они распределены относительно равномерно в некотором диапазоне значений. Суть метода в том, что весь диапазон возможных значений разбивается на k непересекающихся интервалов-«корзин» (</a:t>
            </a:r>
            <a:r>
              <a:rPr kumimoji="0" lang="ru-RU" altLang="ru-RU" sz="10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buckets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); затем каждый элемент входного массива помещается в корзину, соответствующую его значению (например, для чисел из [0,1) можно создать корзины [0,0,1), [0,1,0,2), …, [0,9,1), и число 0,37 попадёт в третью корзину). После распределения все корзины сортируются по отдельности — обычно с помощью другого алгоритма (часто сортировки вставками, так как корзины малы), а затем элементы последовательно извлекаются из корзин в порядке их номеров, образуя итоговый отсортированный массив. Алгоритм особенно эффективен для сортировки вещественных чисел на отрезке [0,1) или целых чисел с равномерным распределением: в идеальном случае (равномерное распределение, </a:t>
            </a:r>
            <a:r>
              <a:rPr kumimoji="0" lang="ru-RU" altLang="ru-RU" sz="10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k≈n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) его средняя временная сложность составляет O(n), но в худшем случае (все элементы попадают в одну корзину) она может достигать O(n2). Пространственная сложность равна O(</a:t>
            </a:r>
            <a:r>
              <a:rPr kumimoji="0" lang="ru-RU" altLang="ru-RU" sz="10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n+k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), поскольку требуется дополнительная память для хранения корзин. Ключевое условие высокой производительности — равномерность распределения входных данных; при сильном перекосе (например, большинство значений сконцентрировано в малой части диапазона) эффективность резко падает, и предпочтительнее могут оказаться другие методы сортировки.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Хотите, я раскрою какой‑либо аспект подробнее?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Сортировка корзиной (</a:t>
            </a:r>
            <a:r>
              <a:rPr kumimoji="0" lang="ru-RU" altLang="ru-RU" sz="10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bucket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0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sort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) — это алгоритм сортировки, основанный на разделении входных данных на несколько «корзин» (или «вёдер», </a:t>
            </a:r>
            <a:r>
              <a:rPr kumimoji="0" lang="ru-RU" altLang="ru-RU" sz="10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buckets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), каждая из которых соответствует определённому диапазону значений; изначально алгоритм предполагает, что входные данные равномерно распределены в некотором известном диапазоне [</a:t>
            </a:r>
            <a:r>
              <a:rPr kumimoji="0" lang="ru-RU" altLang="ru-RU" sz="10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min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0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max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], — на первом этапе диапазон значений разбивается на k равных интервалов (корзин), где k может быть выбрано равным количеству элементов в массиве либо иным образом в зависимости от специфики данных; затем каждый элемент исходного массива распределяется по соответствующей корзине в зависимости от своего значения — например, элемент x попадает в корзину номер (x - </a:t>
            </a:r>
            <a:r>
              <a:rPr kumimoji="0" lang="ru-RU" altLang="ru-RU" sz="10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min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) {</a:t>
            </a:r>
            <a:r>
              <a:rPr kumimoji="0" lang="ru-RU" altLang="ru-RU" sz="10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max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- </a:t>
            </a:r>
            <a:r>
              <a:rPr kumimoji="0" lang="ru-RU" altLang="ru-RU" sz="10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min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+ 1</a:t>
            </a:r>
            <a:r>
              <a:rPr kumimoji="0" lang="en-US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} 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после распределения элементов по корзинам каждая корзина сортируется отдельно — обычно с помощью какого‑либо другого алгоритма сортировки (например, сортировки вставками, которая эффективна для небольших наборов данных); если в какой‑то корзине оказалось много элементов (что может произойти при неравномерном распределении входных данных), её сортировка может занять больше времени, поэтому эффективность алгоритма сильно зависит от равномерности распределения данных; на заключительном этапе отсортированные элементы из всех корзин последовательно объединяются в один массив — сначала берутся все элементы из первой корзины, затем из второй и так далее, — в результате получается полностью отсортированный массив; временная сложность алгоритма в среднем случае составляет O(n + k), где n — количество элементов, а k — количество корзин (при условии равномерного распределения данных и если сортировка внутри корзин выполняется за линейное время относительно размера корзины), но в худшем случае (когда все элементы попадают в одну корзину) сложность может ухудшиться до O(n^2); пространственная сложность алгоритма равна O(n + k), поскольку требуется дополнительная память для хранения корзин; алгоритм особенно эффективен для сортировки чисел с плавающей точкой в известном диапазоне или целых чисел при условии их равномерного распределения, однако требует знания диапазона данных и может быть неэффективен при сильно неравномерном распределении значений или большом разбросе данных относительно количества корзин.</a:t>
            </a:r>
          </a:p>
        </p:txBody>
      </p:sp>
    </p:spTree>
    <p:extLst>
      <p:ext uri="{BB962C8B-B14F-4D97-AF65-F5344CB8AC3E}">
        <p14:creationId xmlns:p14="http://schemas.microsoft.com/office/powerpoint/2010/main" val="34629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В двух словах: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Придуман в середине XX века. </a:t>
            </a: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Какая известная дата…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Конкретный автор алгоритма неизвестен. </a:t>
            </a: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Конечно же!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Возник как развитие </a:t>
            </a:r>
            <a:r>
              <a:rPr lang="ru-RU" dirty="0" err="1" smtClean="0">
                <a:solidFill>
                  <a:schemeClr val="bg1"/>
                </a:solidFill>
              </a:rPr>
              <a:t>Counting</a:t>
            </a:r>
            <a:r>
              <a:rPr lang="ru-RU" dirty="0" smtClean="0">
                <a:solidFill>
                  <a:schemeClr val="bg1"/>
                </a:solidFill>
              </a:rPr>
              <a:t> </a:t>
            </a:r>
            <a:r>
              <a:rPr lang="ru-RU" dirty="0" err="1" smtClean="0">
                <a:solidFill>
                  <a:schemeClr val="bg1"/>
                </a:solidFill>
              </a:rPr>
              <a:t>Sort</a:t>
            </a:r>
            <a:r>
              <a:rPr lang="ru-RU" dirty="0" smtClean="0">
                <a:solidFill>
                  <a:schemeClr val="bg1"/>
                </a:solidFill>
              </a:rPr>
              <a:t>. </a:t>
            </a: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Это что вообще? 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Стал популярен в 1970‑х годах. </a:t>
            </a: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Мир стоит, а сортировка нет.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Применялся в ранних вычислительных системах. </a:t>
            </a: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Шифр Цезаря?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Внедрялся для достижения линейной сложности. </a:t>
            </a: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Понятно (нет)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29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111" y="78205"/>
            <a:ext cx="3916279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5400" dirty="0" smtClean="0">
                <a:ln w="0"/>
                <a:solidFill>
                  <a:srgbClr val="18230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Есть вопросы, на которые я не могу ответить, так как плохо разбираюсь.</a:t>
            </a:r>
            <a:endParaRPr lang="ru-RU" sz="5400" dirty="0">
              <a:ln w="0"/>
              <a:solidFill>
                <a:srgbClr val="18230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229" y="1983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5400" dirty="0" smtClean="0">
                <a:solidFill>
                  <a:schemeClr val="bg1"/>
                </a:solidFill>
              </a:rPr>
              <a:t>Оценка временной сложности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888342" y="1859130"/>
            <a:ext cx="910771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400" dirty="0" smtClean="0">
                <a:solidFill>
                  <a:schemeClr val="bg1">
                    <a:lumMod val="95000"/>
                  </a:schemeClr>
                </a:solidFill>
              </a:rPr>
              <a:t>Временная сложность </a:t>
            </a:r>
            <a:r>
              <a:rPr lang="ru-RU" sz="2400" dirty="0" err="1" smtClean="0">
                <a:solidFill>
                  <a:schemeClr val="bg1">
                    <a:lumMod val="95000"/>
                  </a:schemeClr>
                </a:solidFill>
              </a:rPr>
              <a:t>Bucket</a:t>
            </a:r>
            <a:r>
              <a:rPr lang="ru-RU" sz="24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ru-RU" sz="2400" dirty="0" err="1" smtClean="0">
                <a:solidFill>
                  <a:schemeClr val="bg1">
                    <a:lumMod val="95000"/>
                  </a:schemeClr>
                </a:solidFill>
              </a:rPr>
              <a:t>Sort</a:t>
            </a:r>
            <a:r>
              <a:rPr lang="ru-RU" sz="2400" dirty="0" smtClean="0">
                <a:solidFill>
                  <a:schemeClr val="bg1">
                    <a:lumMod val="95000"/>
                  </a:schemeClr>
                </a:solidFill>
              </a:rPr>
              <a:t> в среднем случае составляет: </a:t>
            </a:r>
          </a:p>
          <a:p>
            <a:pPr algn="r"/>
            <a:r>
              <a:rPr lang="ru-RU" sz="2400" dirty="0" smtClean="0">
                <a:solidFill>
                  <a:schemeClr val="bg1">
                    <a:lumMod val="95000"/>
                  </a:schemeClr>
                </a:solidFill>
              </a:rPr>
              <a:t>O(n + k), где n — количество элементов, а k — количество корзин; это достигается при равномерном распределении элементов по корзинам, когда сортировка внутри каждой корзины выполняется за O(1) на элемент, а общее время складывается из распределения элементов по корзинам (O(n)) и последующей сортировки всех корзин (O(n + k)); в худшем случае, когда все элементы попадают в одну корзину, сложность ухудшается до O(n^2) из‑за квадратичной сложности вспомогательного алгоритма сортировки.</a:t>
            </a:r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26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Входные данные: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8" y="1431131"/>
            <a:ext cx="3912552" cy="2498323"/>
          </a:xfrm>
          <a:prstGeom prst="rect">
            <a:avLst/>
          </a:prstGeom>
        </p:spPr>
      </p:pic>
      <p:pic>
        <p:nvPicPr>
          <p:cNvPr id="7" name="Рисунок 6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94" y="6661707"/>
            <a:ext cx="11562647" cy="11930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236" y="4369412"/>
            <a:ext cx="8816132" cy="2099079"/>
          </a:xfrm>
          <a:prstGeom prst="rect">
            <a:avLst/>
          </a:prstGeom>
          <a:ln>
            <a:solidFill>
              <a:srgbClr val="00B0F0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4" name="Рукописный ввод 23"/>
              <p14:cNvContentPartPr/>
              <p14:nvPr/>
            </p14:nvContentPartPr>
            <p14:xfrm>
              <a:off x="253263" y="6718811"/>
              <a:ext cx="157680" cy="120240"/>
            </p14:xfrm>
          </p:contentPart>
        </mc:Choice>
        <mc:Fallback>
          <p:pic>
            <p:nvPicPr>
              <p:cNvPr id="24" name="Рукописный ввод 2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5263" y="6700811"/>
                <a:ext cx="193680" cy="156240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Рисунок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9630" y="2409389"/>
            <a:ext cx="3637913" cy="793815"/>
          </a:xfrm>
          <a:prstGeom prst="rect">
            <a:avLst/>
          </a:prstGeom>
        </p:spPr>
      </p:pic>
      <p:cxnSp>
        <p:nvCxnSpPr>
          <p:cNvPr id="27" name="Прямая со стрелкой 26"/>
          <p:cNvCxnSpPr/>
          <p:nvPr/>
        </p:nvCxnSpPr>
        <p:spPr>
          <a:xfrm>
            <a:off x="4400895" y="2083496"/>
            <a:ext cx="2267085" cy="5496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 flipH="1">
            <a:off x="6819630" y="3367314"/>
            <a:ext cx="1025341" cy="80888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6" name="Рукописный ввод 35"/>
              <p14:cNvContentPartPr/>
              <p14:nvPr/>
            </p14:nvContentPartPr>
            <p14:xfrm>
              <a:off x="8722983" y="2853082"/>
              <a:ext cx="515880" cy="22320"/>
            </p14:xfrm>
          </p:contentPart>
        </mc:Choice>
        <mc:Fallback>
          <p:pic>
            <p:nvPicPr>
              <p:cNvPr id="36" name="Рукописный ввод 3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04983" y="2835082"/>
                <a:ext cx="55188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8" name="Рукописный ввод 37"/>
              <p14:cNvContentPartPr/>
              <p14:nvPr/>
            </p14:nvContentPartPr>
            <p14:xfrm>
              <a:off x="8338503" y="-819949"/>
              <a:ext cx="360" cy="360"/>
            </p14:xfrm>
          </p:contentPart>
        </mc:Choice>
        <mc:Fallback>
          <p:pic>
            <p:nvPicPr>
              <p:cNvPr id="38" name="Рукописный ввод 37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20503" y="-837949"/>
                <a:ext cx="36360" cy="3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242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15740" y="-3963910"/>
            <a:ext cx="4439270" cy="1082191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57870" y="-2780241"/>
            <a:ext cx="4439270" cy="1082191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4439270" cy="10821910"/>
          </a:xfrm>
          <a:prstGeom prst="rect">
            <a:avLst/>
          </a:prstGeom>
          <a:ln>
            <a:solidFill>
              <a:schemeClr val="bg1">
                <a:alpha val="50000"/>
              </a:schemeClr>
            </a:solidFill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2543" y="365125"/>
            <a:ext cx="6941457" cy="665389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Полученные таблицы и графики</a:t>
            </a:r>
            <a:endParaRPr lang="ru-RU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7569" y="2355396"/>
            <a:ext cx="5548873" cy="324711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5042" y="2485034"/>
            <a:ext cx="6546958" cy="278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0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Вывод: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При работе с </a:t>
            </a:r>
            <a:r>
              <a:rPr lang="ru-RU" dirty="0" err="1" smtClean="0">
                <a:solidFill>
                  <a:schemeClr val="bg1"/>
                </a:solidFill>
              </a:rPr>
              <a:t>bucket</a:t>
            </a:r>
            <a:r>
              <a:rPr lang="ru-RU" dirty="0" smtClean="0">
                <a:solidFill>
                  <a:schemeClr val="bg1"/>
                </a:solidFill>
              </a:rPr>
              <a:t> </a:t>
            </a:r>
            <a:r>
              <a:rPr lang="ru-RU" dirty="0" err="1" smtClean="0">
                <a:solidFill>
                  <a:schemeClr val="bg1"/>
                </a:solidFill>
              </a:rPr>
              <a:t>sort</a:t>
            </a:r>
            <a:r>
              <a:rPr lang="ru-RU" dirty="0" smtClean="0">
                <a:solidFill>
                  <a:schemeClr val="bg1"/>
                </a:solidFill>
              </a:rPr>
              <a:t>:</a:t>
            </a:r>
          </a:p>
          <a:p>
            <a:r>
              <a:rPr lang="ru-RU" dirty="0">
                <a:solidFill>
                  <a:schemeClr val="bg1"/>
                </a:solidFill>
              </a:rPr>
              <a:t>В</a:t>
            </a:r>
            <a:r>
              <a:rPr lang="ru-RU" dirty="0" smtClean="0">
                <a:solidFill>
                  <a:schemeClr val="bg1"/>
                </a:solidFill>
              </a:rPr>
              <a:t>ремя сортировки нестабильно — есть резкие всплески, что, вероятно, связано с неравномерным распределением данных по «корзинам».</a:t>
            </a:r>
          </a:p>
          <a:p>
            <a:r>
              <a:rPr lang="ru-RU" dirty="0">
                <a:solidFill>
                  <a:schemeClr val="bg1"/>
                </a:solidFill>
              </a:rPr>
              <a:t>Ч</a:t>
            </a:r>
            <a:r>
              <a:rPr lang="ru-RU" dirty="0" smtClean="0">
                <a:solidFill>
                  <a:schemeClr val="bg1"/>
                </a:solidFill>
              </a:rPr>
              <a:t>исло итераций растёт линейно с увеличением размера массива.</a:t>
            </a:r>
          </a:p>
          <a:p>
            <a:r>
              <a:rPr lang="ru-RU" dirty="0">
                <a:solidFill>
                  <a:schemeClr val="bg1"/>
                </a:solidFill>
              </a:rPr>
              <a:t>С</a:t>
            </a:r>
            <a:r>
              <a:rPr lang="ru-RU" dirty="0" smtClean="0">
                <a:solidFill>
                  <a:schemeClr val="bg1"/>
                </a:solidFill>
              </a:rPr>
              <a:t> ростом размера массива время обработки в среднем увеличивается как </a:t>
            </a:r>
            <a:r>
              <a:rPr lang="en-US" dirty="0" smtClean="0">
                <a:solidFill>
                  <a:schemeClr val="bg1"/>
                </a:solidFill>
              </a:rPr>
              <a:t>n log(n)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Алгоритм эффективен для умеренно больших массивов, но чувствителен к распределению значений.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Пиковые нагрузки требуют оптимизации «корзин».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40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30628" y="83181"/>
            <a:ext cx="533400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</a:rPr>
              <a:t>Плюсы: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Б</a:t>
            </a:r>
            <a:r>
              <a:rPr lang="ru-RU" sz="2400" dirty="0" smtClean="0">
                <a:solidFill>
                  <a:schemeClr val="bg1"/>
                </a:solidFill>
              </a:rPr>
              <a:t>ыстрый при равномерном распределении данных (O(n + k))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Э</a:t>
            </a:r>
            <a:r>
              <a:rPr lang="ru-RU" sz="2400" dirty="0" smtClean="0">
                <a:solidFill>
                  <a:schemeClr val="bg1"/>
                </a:solidFill>
              </a:rPr>
              <a:t>ффективен для дробных чисел и процентов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П</a:t>
            </a:r>
            <a:r>
              <a:rPr lang="ru-RU" sz="2400" dirty="0" smtClean="0">
                <a:solidFill>
                  <a:schemeClr val="bg1"/>
                </a:solidFill>
              </a:rPr>
              <a:t>оддерживает параллельную сортировку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Г</a:t>
            </a:r>
            <a:r>
              <a:rPr lang="ru-RU" sz="2400" dirty="0" smtClean="0">
                <a:solidFill>
                  <a:schemeClr val="bg1"/>
                </a:solidFill>
              </a:rPr>
              <a:t>ибкий (разные алгоритмы внутри корзин)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Х</a:t>
            </a:r>
            <a:r>
              <a:rPr lang="ru-RU" sz="2400" dirty="0" smtClean="0">
                <a:solidFill>
                  <a:schemeClr val="bg1"/>
                </a:solidFill>
              </a:rPr>
              <a:t>орошо работает с большими наборами данных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030685" y="83181"/>
            <a:ext cx="546462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</a:rPr>
              <a:t>Минусы: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Т</a:t>
            </a:r>
            <a:r>
              <a:rPr lang="ru-RU" sz="2400" dirty="0" smtClean="0">
                <a:solidFill>
                  <a:schemeClr val="bg1"/>
                </a:solidFill>
              </a:rPr>
              <a:t>ребует дополнительной памяти (O(n + k))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Д</a:t>
            </a:r>
            <a:r>
              <a:rPr lang="ru-RU" sz="2400" dirty="0" smtClean="0">
                <a:solidFill>
                  <a:schemeClr val="bg1"/>
                </a:solidFill>
              </a:rPr>
              <a:t>еградирует до O(n²) при неравномерном распределении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С</a:t>
            </a:r>
            <a:r>
              <a:rPr lang="ru-RU" sz="2400" dirty="0" smtClean="0">
                <a:solidFill>
                  <a:schemeClr val="bg1"/>
                </a:solidFill>
              </a:rPr>
              <a:t>ложнее в реализации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Ч</a:t>
            </a:r>
            <a:r>
              <a:rPr lang="ru-RU" sz="2400" dirty="0" smtClean="0">
                <a:solidFill>
                  <a:schemeClr val="bg1"/>
                </a:solidFill>
              </a:rPr>
              <a:t>увствителен к диапазону значений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П</a:t>
            </a:r>
            <a:r>
              <a:rPr lang="ru-RU" sz="2400" dirty="0" smtClean="0">
                <a:solidFill>
                  <a:schemeClr val="bg1"/>
                </a:solidFill>
              </a:rPr>
              <a:t>роблемы с отрицательными числами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bg1"/>
                </a:solidFill>
              </a:rPr>
              <a:t>Зависит от выбора количества корзин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365829" y="4513937"/>
            <a:ext cx="8585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</a:rPr>
              <a:t>Где применять: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С</a:t>
            </a:r>
            <a:r>
              <a:rPr lang="ru-RU" sz="2400" dirty="0" smtClean="0">
                <a:solidFill>
                  <a:schemeClr val="bg1"/>
                </a:solidFill>
              </a:rPr>
              <a:t>ортировка нормализованных значений (0.0–1.0)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bg1"/>
                </a:solidFill>
              </a:rPr>
              <a:t>Большие </a:t>
            </a:r>
            <a:r>
              <a:rPr lang="ru-RU" sz="2400" dirty="0" err="1" smtClean="0">
                <a:solidFill>
                  <a:schemeClr val="bg1"/>
                </a:solidFill>
              </a:rPr>
              <a:t>датасеты</a:t>
            </a:r>
            <a:r>
              <a:rPr lang="ru-RU" sz="2400" dirty="0" smtClean="0">
                <a:solidFill>
                  <a:schemeClr val="bg1"/>
                </a:solidFill>
              </a:rPr>
              <a:t> с равномерным распределением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Р</a:t>
            </a:r>
            <a:r>
              <a:rPr lang="ru-RU" sz="2400" dirty="0" smtClean="0">
                <a:solidFill>
                  <a:schemeClr val="bg1"/>
                </a:solidFill>
              </a:rPr>
              <a:t>аспределённые системы (параллельная обработка)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bg1"/>
                </a:solidFill>
              </a:rPr>
              <a:t>Задачи с известными границами значений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61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Ссылка на </a:t>
            </a:r>
            <a:r>
              <a:rPr lang="ru-RU" dirty="0" err="1" smtClean="0">
                <a:solidFill>
                  <a:schemeClr val="bg1"/>
                </a:solidFill>
              </a:rPr>
              <a:t>репозиторий</a:t>
            </a:r>
            <a:r>
              <a:rPr lang="ru-RU" dirty="0" smtClean="0">
                <a:solidFill>
                  <a:schemeClr val="bg1"/>
                </a:solidFill>
              </a:rPr>
              <a:t> с кодом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hlinkClick r:id="rId2"/>
              </a:rPr>
              <a:t>https://github.com/Crystall16/-Sort.git</a:t>
            </a:r>
            <a:endParaRPr lang="ru-RU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мне лень создавать </a:t>
            </a:r>
            <a:r>
              <a:rPr lang="ru-RU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куар</a:t>
            </a: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-код, так что переписывайте в ручную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538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76400" y="5532437"/>
            <a:ext cx="10515600" cy="1325563"/>
          </a:xfrm>
        </p:spPr>
        <p:txBody>
          <a:bodyPr>
            <a:normAutofit/>
          </a:bodyPr>
          <a:lstStyle/>
          <a:p>
            <a:pPr algn="r"/>
            <a:r>
              <a:rPr lang="ru-RU" sz="6600" dirty="0" smtClean="0">
                <a:solidFill>
                  <a:schemeClr val="bg2">
                    <a:lumMod val="25000"/>
                  </a:schemeClr>
                </a:solidFill>
              </a:rPr>
              <a:t>Спасибо…</a:t>
            </a:r>
            <a:endParaRPr lang="ru-RU" sz="66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55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</TotalTime>
  <Words>453</Words>
  <Application>Microsoft Office PowerPoint</Application>
  <PresentationFormat>Широкоэкранный</PresentationFormat>
  <Paragraphs>50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Конечно! Вот максимально краткая историческая справка без «ВСЕЙ ЭТОЙ Х***И, Б***Ь!»:</vt:lpstr>
      <vt:lpstr>В двух словах:</vt:lpstr>
      <vt:lpstr>Оценка временной сложности</vt:lpstr>
      <vt:lpstr>Входные данные:</vt:lpstr>
      <vt:lpstr>Полученные таблицы и графики</vt:lpstr>
      <vt:lpstr>Вывод:</vt:lpstr>
      <vt:lpstr>Презентация PowerPoint</vt:lpstr>
      <vt:lpstr>Ссылка на репозиторий с кодом</vt:lpstr>
      <vt:lpstr>Спасибо…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Bucket sort</dc:title>
  <dc:creator>Михаил Косач</dc:creator>
  <cp:lastModifiedBy>Михаил Косач</cp:lastModifiedBy>
  <cp:revision>11</cp:revision>
  <dcterms:created xsi:type="dcterms:W3CDTF">2026-03-30T16:12:41Z</dcterms:created>
  <dcterms:modified xsi:type="dcterms:W3CDTF">2026-03-30T18:20:42Z</dcterms:modified>
</cp:coreProperties>
</file>